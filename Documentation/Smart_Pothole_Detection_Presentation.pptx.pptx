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78" r:id="rId3"/>
    <p:sldId id="279" r:id="rId4"/>
    <p:sldId id="281" r:id="rId5"/>
    <p:sldId id="257" r:id="rId6"/>
    <p:sldId id="282" r:id="rId7"/>
    <p:sldId id="284" r:id="rId8"/>
    <p:sldId id="263" r:id="rId9"/>
    <p:sldId id="283" r:id="rId10"/>
    <p:sldId id="285" r:id="rId11"/>
    <p:sldId id="286" r:id="rId12"/>
    <p:sldId id="265" r:id="rId13"/>
    <p:sldId id="268" r:id="rId14"/>
    <p:sldId id="276" r:id="rId15"/>
    <p:sldId id="267" r:id="rId16"/>
    <p:sldId id="293" r:id="rId17"/>
    <p:sldId id="294" r:id="rId18"/>
    <p:sldId id="292" r:id="rId19"/>
    <p:sldId id="295" r:id="rId20"/>
    <p:sldId id="296" r:id="rId21"/>
    <p:sldId id="288" r:id="rId22"/>
    <p:sldId id="289" r:id="rId23"/>
    <p:sldId id="273" r:id="rId24"/>
    <p:sldId id="290" r:id="rId25"/>
    <p:sldId id="275" r:id="rId26"/>
    <p:sldId id="29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98726-EC16-4BE4-B540-0B00495091DB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5D349-B5B0-497D-BBBB-A1CE9D18F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81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440" y="992880"/>
            <a:ext cx="11360160" cy="273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FEFD3DE-E388-4691-9551-6D72E2C329A7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998F07BB-6B46-4C73-9ED9-B8C0F0ED10A4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D10D4C7B-2589-492C-9D91-673E53328597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32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 rot="5400000">
            <a:off x="3818880" y="-1866240"/>
            <a:ext cx="4554720" cy="1136016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sldNum" idx="4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593B16E6-7203-4B04-968C-286163925D76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sldNum" idx="5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B22AE787-FDA5-4450-AB44-6A07B1390AD4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B7970D3-272A-41DB-A9B1-55E6E45E2CCB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Nunito"/>
                <a:ea typeface="Nunito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自定义版式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Num" idx="9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EB1C45-FB29-4FCE-AC9B-338C8CD351F0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32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15440" y="1536480"/>
            <a:ext cx="11360160" cy="45547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sldNum" idx="10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2C811CBA-FD10-4A48-B980-299B704C093F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sldNum" idx="11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C3841DD1-EEC5-4FCE-B272-ED9240691878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32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sldNum" idx="12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A7A04185-3174-4CC7-884E-D873A6628206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32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6"/>
          <p:cNvSpPr>
            <a:spLocks noGrp="1"/>
          </p:cNvSpPr>
          <p:nvPr>
            <p:ph type="sldNum" idx="13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9A3BB307-364A-4B9C-B604-F3C858193A00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32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14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80E85BEA-6022-4A75-9A14-9DF08299F079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Num" idx="15"/>
          </p:nvPr>
        </p:nvSpPr>
        <p:spPr>
          <a:xfrm>
            <a:off x="11296440" y="6217560"/>
            <a:ext cx="731520" cy="52452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6A374908-824C-4335-B2C7-CF8874E49D09}" type="slidenum"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8.jpeg"/><Relationship Id="rId7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jpeg"/><Relationship Id="rId10" Type="http://schemas.openxmlformats.org/officeDocument/2006/relationships/image" Target="../media/image14.jpeg"/><Relationship Id="rId4" Type="http://schemas.openxmlformats.org/officeDocument/2006/relationships/image" Target="../media/image9.jpeg"/><Relationship Id="rId9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22600" y="373626"/>
            <a:ext cx="8045640" cy="244661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MVGR College Of Engineering(A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</a:rPr>
              <a:t>utonomous</a:t>
            </a: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b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</a:b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Department Of Electronics And Communications Engineering</a:t>
            </a:r>
            <a:br>
              <a:rPr sz="3200" dirty="0"/>
            </a:b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Community Project On</a:t>
            </a:r>
            <a:br>
              <a:rPr sz="3200" dirty="0"/>
            </a:br>
            <a:r>
              <a:rPr lang="en-US" sz="3200" b="0" u="none" strike="noStrike" dirty="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IoT Based Road Pothole And An</a:t>
            </a:r>
            <a:r>
              <a:rPr lang="en-US" sz="3200" dirty="0">
                <a:solidFill>
                  <a:srgbClr val="FF0000"/>
                </a:solidFill>
                <a:latin typeface="Times New Roman"/>
                <a:ea typeface="Times New Roman"/>
              </a:rPr>
              <a:t>o</a:t>
            </a:r>
            <a:r>
              <a:rPr lang="en-US" sz="3200" b="0" u="none" strike="noStrike" dirty="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maly </a:t>
            </a:r>
            <a:br>
              <a:rPr sz="3200" dirty="0"/>
            </a:br>
            <a:r>
              <a:rPr lang="en-US" sz="3200" b="0" u="none" strike="noStrike" dirty="0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Detection System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138240" y="2979174"/>
            <a:ext cx="11214360" cy="196645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77;p1"/>
          <p:cNvSpPr/>
          <p:nvPr/>
        </p:nvSpPr>
        <p:spPr>
          <a:xfrm>
            <a:off x="1858320" y="2820240"/>
            <a:ext cx="853704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700" b="1" u="none" strike="noStrik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7" name="Google Shape;78;p1"/>
          <p:cNvSpPr/>
          <p:nvPr/>
        </p:nvSpPr>
        <p:spPr>
          <a:xfrm>
            <a:off x="924233" y="4945626"/>
            <a:ext cx="10169888" cy="1250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             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Google Shape;79;p1"/>
          <p:cNvPicPr/>
          <p:nvPr/>
        </p:nvPicPr>
        <p:blipFill>
          <a:blip r:embed="rId2"/>
          <a:stretch/>
        </p:blipFill>
        <p:spPr>
          <a:xfrm>
            <a:off x="9598726" y="-284133"/>
            <a:ext cx="2229480" cy="212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BA9DE2-3014-036D-85D6-1DC3706620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236" y="2820240"/>
            <a:ext cx="6790783" cy="3482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0A59-2CA6-534C-0AD7-57A1446E7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88" y="193880"/>
            <a:ext cx="8596440" cy="7473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TEAM 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D8634-4612-C3F3-CE74-FF7F5FBE3E2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419380" y="1303282"/>
            <a:ext cx="8596440" cy="509751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BATCH NO - 2</a:t>
            </a:r>
            <a:endParaRPr lang="en-IN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3C2FC8-6850-88E5-C0C9-C6780BF88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65391"/>
              </p:ext>
            </p:extLst>
          </p:nvPr>
        </p:nvGraphicFramePr>
        <p:xfrm>
          <a:off x="1520469" y="1782239"/>
          <a:ext cx="8394262" cy="2689634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418960">
                  <a:extLst>
                    <a:ext uri="{9D8B030D-6E8A-4147-A177-3AD203B41FA5}">
                      <a16:colId xmlns:a16="http://schemas.microsoft.com/office/drawing/2014/main" val="3158258043"/>
                    </a:ext>
                  </a:extLst>
                </a:gridCol>
                <a:gridCol w="2418960">
                  <a:extLst>
                    <a:ext uri="{9D8B030D-6E8A-4147-A177-3AD203B41FA5}">
                      <a16:colId xmlns:a16="http://schemas.microsoft.com/office/drawing/2014/main" val="355453517"/>
                    </a:ext>
                  </a:extLst>
                </a:gridCol>
                <a:gridCol w="3556342">
                  <a:extLst>
                    <a:ext uri="{9D8B030D-6E8A-4147-A177-3AD203B41FA5}">
                      <a16:colId xmlns:a16="http://schemas.microsoft.com/office/drawing/2014/main" val="751891947"/>
                    </a:ext>
                  </a:extLst>
                </a:gridCol>
              </a:tblGrid>
              <a:tr h="466697">
                <a:tc>
                  <a:txBody>
                    <a:bodyPr/>
                    <a:lstStyle/>
                    <a:p>
                      <a:r>
                        <a:rPr lang="en-US" dirty="0"/>
                        <a:t>Registration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836232"/>
                  </a:ext>
                </a:extLst>
              </a:tr>
              <a:tr h="527619">
                <a:tc>
                  <a:txBody>
                    <a:bodyPr/>
                    <a:lstStyle/>
                    <a:p>
                      <a:r>
                        <a:rPr lang="en-US" dirty="0"/>
                        <a:t>24331A0406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Rama Chandini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Implementation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360062"/>
                  </a:ext>
                </a:extLst>
              </a:tr>
              <a:tr h="527619">
                <a:tc>
                  <a:txBody>
                    <a:bodyPr/>
                    <a:lstStyle/>
                    <a:p>
                      <a:r>
                        <a:rPr lang="en-US" dirty="0"/>
                        <a:t>24331A0426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Ananth Kumar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&amp; System Implementation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567645"/>
                  </a:ext>
                </a:extLst>
              </a:tr>
              <a:tr h="527619">
                <a:tc>
                  <a:txBody>
                    <a:bodyPr/>
                    <a:lstStyle/>
                    <a:p>
                      <a:r>
                        <a:rPr lang="en-US" dirty="0"/>
                        <a:t>24331A0439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CH. John Sumanth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Documentation and testing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358108"/>
                  </a:ext>
                </a:extLst>
              </a:tr>
              <a:tr h="527619">
                <a:tc>
                  <a:txBody>
                    <a:bodyPr/>
                    <a:lstStyle/>
                    <a:p>
                      <a:r>
                        <a:rPr lang="en-US" dirty="0"/>
                        <a:t>24331A0456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G.  </a:t>
                      </a:r>
                      <a:r>
                        <a:rPr lang="en-US" dirty="0" err="1"/>
                        <a:t>Chanikya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collection &amp;Research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8732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509ADF-B62A-7233-EE7F-9BA05B652B3A}"/>
              </a:ext>
            </a:extLst>
          </p:cNvPr>
          <p:cNvSpPr txBox="1"/>
          <p:nvPr/>
        </p:nvSpPr>
        <p:spPr>
          <a:xfrm>
            <a:off x="6674068" y="4627291"/>
            <a:ext cx="34403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 THE GUIDANCE OF</a:t>
            </a: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dirty="0"/>
              <a:t>DR .K.S.N </a:t>
            </a:r>
            <a:r>
              <a:rPr lang="en-US" sz="2000" dirty="0">
                <a:solidFill>
                  <a:srgbClr val="0C0C0C"/>
                </a:solidFill>
                <a:latin typeface="Times New Roman"/>
              </a:rPr>
              <a:t>Raju</a:t>
            </a: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dirty="0" err="1">
                <a:solidFill>
                  <a:srgbClr val="0C0C0C"/>
                </a:solidFill>
                <a:latin typeface="Bahnschrift Light" panose="020B0502040204020203" pitchFamily="34" charset="0"/>
                <a:ea typeface="Yu Gothic Light" panose="020B0300000000000000" pitchFamily="34" charset="-128"/>
              </a:rPr>
              <a:t>MTECH.PhD</a:t>
            </a:r>
            <a:endParaRPr lang="en-US" dirty="0">
              <a:solidFill>
                <a:srgbClr val="0C0C0C"/>
              </a:solidFill>
              <a:latin typeface="Bahnschrift Light" panose="020B0502040204020203" pitchFamily="34" charset="0"/>
              <a:ea typeface="Yu Gothic Light" panose="020B0300000000000000" pitchFamily="34" charset="-128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dirty="0">
                <a:solidFill>
                  <a:srgbClr val="0C0C0C"/>
                </a:solidFill>
                <a:latin typeface="Bahnschrift Light" panose="020B0502040204020203" pitchFamily="34" charset="0"/>
                <a:ea typeface="Yu Gothic Light" panose="020B0300000000000000" pitchFamily="34" charset="-128"/>
              </a:rPr>
              <a:t>ASSOCIATE PROFESSOR(ECE)</a:t>
            </a: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dirty="0">
              <a:solidFill>
                <a:srgbClr val="0C0C0C"/>
              </a:solidFill>
              <a:latin typeface="Times New Roman"/>
              <a:ea typeface="Aria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dirty="0">
              <a:solidFill>
                <a:srgbClr val="0C0C0C"/>
              </a:solidFill>
              <a:latin typeface="Bahnschrift Light" panose="020B0502040204020203" pitchFamily="34" charset="0"/>
              <a:ea typeface="Yu Gothic Light" panose="020B0300000000000000" pitchFamily="34" charset="-128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dirty="0">
              <a:solidFill>
                <a:srgbClr val="0C0C0C"/>
              </a:solidFill>
              <a:latin typeface="Bahnschrift Light" panose="020B0502040204020203" pitchFamily="34" charset="0"/>
              <a:ea typeface="Yu Gothic Light" panose="020B0300000000000000" pitchFamily="34" charset="-128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EFE22-7E64-DC35-DD2F-4A2B83588784}"/>
              </a:ext>
            </a:extLst>
          </p:cNvPr>
          <p:cNvSpPr txBox="1"/>
          <p:nvPr/>
        </p:nvSpPr>
        <p:spPr>
          <a:xfrm>
            <a:off x="1654111" y="4838369"/>
            <a:ext cx="332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620D7A-29B2-E371-F187-7CED6E55F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427" y="293308"/>
            <a:ext cx="2031633" cy="170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57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55F3-629B-4A6E-53F5-5F40B895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0" y="325700"/>
            <a:ext cx="8596440" cy="1320480"/>
          </a:xfrm>
        </p:spPr>
        <p:txBody>
          <a:bodyPr/>
          <a:lstStyle/>
          <a:p>
            <a:r>
              <a:rPr lang="en-US" dirty="0"/>
              <a:t>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C3A8-2221-4E31-4753-EF748147634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82263" y="830317"/>
            <a:ext cx="10053902" cy="5244661"/>
          </a:xfrm>
        </p:spPr>
        <p:txBody>
          <a:bodyPr/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this project is to develop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road pothole and anomaly detection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detects road irregularities while a vehicle is moving and provides timely alerts to improve road safety and monitoring.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pothole detection sensor(MPU6050)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module(Neo 6M)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road anomalies and obtain their location. The detected information is transmitted through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using a Telegram Bot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GSM/SMS. The main objective is to achieve simple, low-cost, real-time detection and location-based reporting of road potholes and anomalies.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2D49A-8F4A-DAF5-D19E-092BC6E4E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671" y="-277774"/>
            <a:ext cx="2231329" cy="192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8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33DA9-C127-28BF-69A3-C51315239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0" y="384464"/>
            <a:ext cx="8596440" cy="85205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B7EE-5CB9-1236-4955-F12D2DE6AFC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7160" y="910697"/>
            <a:ext cx="8897764" cy="5689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AE45D-9A4D-8CB7-93E2-0D1CA75E0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093" y="76949"/>
            <a:ext cx="2231329" cy="212159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BEDCA7-C947-5523-AEFA-610AEB6F1453}"/>
              </a:ext>
            </a:extLst>
          </p:cNvPr>
          <p:cNvSpPr/>
          <p:nvPr/>
        </p:nvSpPr>
        <p:spPr>
          <a:xfrm>
            <a:off x="4865887" y="1197189"/>
            <a:ext cx="3962400" cy="3925418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Review2:Protype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initial prototype for IoT-Based Road Pothole and anomaly Detection.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detects potholes and sends the information through Telegram for quick notification.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A27B96-064D-A0CC-6597-D76300E1A59B}"/>
              </a:ext>
            </a:extLst>
          </p:cNvPr>
          <p:cNvSpPr/>
          <p:nvPr/>
        </p:nvSpPr>
        <p:spPr>
          <a:xfrm>
            <a:off x="991725" y="1315176"/>
            <a:ext cx="3633993" cy="3728773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Reviw1:Survey Analysis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 survey to understand common road and pothole-related problems.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responses to identify major issues faced by road users.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results helped us understand the need for an effective pothole detection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92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77160" y="498600"/>
            <a:ext cx="8596440" cy="121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Tx/>
                <a:latin typeface="Aptos Display"/>
                <a:ea typeface="Times New Roman"/>
              </a:rPr>
              <a:t>                               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TARGETED AREA 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234176" y="989068"/>
            <a:ext cx="10939345" cy="576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Village name    : </a:t>
            </a:r>
            <a:r>
              <a:rPr lang="en-US" sz="2400" b="0" u="none" strike="noStrike" dirty="0" err="1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Rampuram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9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Population        : 3536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9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Density             : /Km2 (4300 </a:t>
            </a:r>
            <a:r>
              <a:rPr lang="en-US" sz="2400" b="0" u="none" strike="noStrike" dirty="0" err="1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sq.m</a:t>
            </a: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9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Location           :</a:t>
            </a:r>
            <a:r>
              <a:rPr lang="en-US" sz="2400" b="0" u="none" strike="noStrike" dirty="0" err="1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Rampuram</a:t>
            </a: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US" sz="2400" b="0" u="none" strike="noStrike" dirty="0" err="1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Pendurthi</a:t>
            </a: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mandal-531173(AP)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9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Area                 : 518 hectares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9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C0C0C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Primary Economic :Farming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9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51" name="Picture 2"/>
          <p:cNvPicPr/>
          <p:nvPr/>
        </p:nvPicPr>
        <p:blipFill>
          <a:blip r:embed="rId2"/>
          <a:stretch/>
        </p:blipFill>
        <p:spPr>
          <a:xfrm>
            <a:off x="7675661" y="1657391"/>
            <a:ext cx="3785040" cy="360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oogle Shape;79;p1"/>
          <p:cNvPicPr/>
          <p:nvPr/>
        </p:nvPicPr>
        <p:blipFill>
          <a:blip r:embed="rId3"/>
          <a:stretch/>
        </p:blipFill>
        <p:spPr>
          <a:xfrm>
            <a:off x="10744200" y="228600"/>
            <a:ext cx="1003680" cy="1215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7074-22D1-7CB8-2041-946D0AF7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0" y="197427"/>
            <a:ext cx="8596440" cy="1039091"/>
          </a:xfrm>
        </p:spPr>
        <p:txBody>
          <a:bodyPr/>
          <a:lstStyle/>
          <a:p>
            <a:r>
              <a:rPr lang="en-US" dirty="0"/>
              <a:t>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FC88B-4894-94EE-F63F-A188E169D1B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7159" y="1236519"/>
            <a:ext cx="10947281" cy="523701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road conditions in the selected community.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pothole-prone areas.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causes of potholes.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their effect on road users.           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feedback from the community.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propose an anomaly detection system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identifying road defects.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awareness about road safety.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73DEFD-6ACF-FFB3-F9A9-9BFC910AD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052" y="-200928"/>
            <a:ext cx="2231329" cy="21215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A33EB-0603-7E25-5F38-89352B8EC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58" y="2673965"/>
            <a:ext cx="4354884" cy="324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BF68-6275-FCF8-6FBF-61E8D6D7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survey location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73454-EF70-A739-EEF3-43C73FB6B5C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9896" y="1488779"/>
            <a:ext cx="11210876" cy="4880847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Selected Location : Rama </a:t>
            </a:r>
            <a:r>
              <a:rPr lang="en-US" sz="2400" dirty="0" err="1"/>
              <a:t>puram</a:t>
            </a: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District : Visakhapatnam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Population  : 1657</a:t>
            </a:r>
            <a:endParaRPr lang="en-US" sz="2400" dirty="0">
              <a:highlight>
                <a:srgbClr val="C0C0C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No of people interacted with : 10               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Date of Survey :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Type of Road sections Observed : Mostly </a:t>
            </a:r>
            <a:endParaRPr lang="en-I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/>
              <a:t>Problems in Village : Roads , water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93A1A-7B2B-EA26-7C06-AA118BE4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693" y="1929960"/>
            <a:ext cx="2993285" cy="359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55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4044844" y="185442"/>
            <a:ext cx="284328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Survey Gallery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13"/>
          <p:cNvPicPr/>
          <p:nvPr/>
        </p:nvPicPr>
        <p:blipFill>
          <a:blip r:embed="rId2"/>
          <a:stretch/>
        </p:blipFill>
        <p:spPr>
          <a:xfrm>
            <a:off x="2536458" y="3713319"/>
            <a:ext cx="2207618" cy="284349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15"/>
          <p:cNvPicPr/>
          <p:nvPr/>
        </p:nvPicPr>
        <p:blipFill>
          <a:blip r:embed="rId3"/>
          <a:stretch/>
        </p:blipFill>
        <p:spPr>
          <a:xfrm>
            <a:off x="439040" y="3713319"/>
            <a:ext cx="1946978" cy="284349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17"/>
          <p:cNvPicPr/>
          <p:nvPr/>
        </p:nvPicPr>
        <p:blipFill>
          <a:blip r:embed="rId4"/>
          <a:stretch/>
        </p:blipFill>
        <p:spPr>
          <a:xfrm>
            <a:off x="6440094" y="736108"/>
            <a:ext cx="2404618" cy="25310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19"/>
          <p:cNvPicPr/>
          <p:nvPr/>
        </p:nvPicPr>
        <p:blipFill>
          <a:blip r:embed="rId5"/>
          <a:stretch/>
        </p:blipFill>
        <p:spPr>
          <a:xfrm>
            <a:off x="3397494" y="736108"/>
            <a:ext cx="2843280" cy="247519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79;p 6"/>
          <p:cNvPicPr/>
          <p:nvPr/>
        </p:nvPicPr>
        <p:blipFill>
          <a:blip r:embed="rId6"/>
          <a:stretch/>
        </p:blipFill>
        <p:spPr>
          <a:xfrm>
            <a:off x="11146130" y="-240525"/>
            <a:ext cx="1003680" cy="121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E3B205-35CD-255B-2A61-FDD3307CA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574" y="708162"/>
            <a:ext cx="2993395" cy="24751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21F43E-8B6F-5B1D-7AD5-E2801F92EE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032" y="708162"/>
            <a:ext cx="2374391" cy="2891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B45BB6-E89B-D214-DF09-1219046CD0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374" y="3713319"/>
            <a:ext cx="3345765" cy="2843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00CCEC-10D7-05B1-FB7C-DE761E7424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663" y="3713319"/>
            <a:ext cx="3174124" cy="28434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BEF4-7E9D-7507-B512-C57D6F1C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80941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Questions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01485-133A-A21D-D77B-40E6A52357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13794" y="1293565"/>
            <a:ext cx="9869613" cy="5052572"/>
          </a:xfrm>
        </p:spPr>
        <p:txBody>
          <a:bodyPr/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frequently do you encounter potholes while travelling on the roads in your village?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do potholes affect your daily travel, especially while riding a two-wheeler?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find it difficult to identify potholes during night-time due to poor visibility?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you think is the main cause of potholes in your village roads?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E96144-7DA3-2805-2988-0A0E622E2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917" y="-46608"/>
            <a:ext cx="1462506" cy="212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4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BD19-EBBF-C734-13E3-C5BC3BB9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0" y="336332"/>
            <a:ext cx="8596440" cy="9827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Data &amp; observations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34B93-983A-6B90-1937-15F4D224FFA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7159" y="1215736"/>
            <a:ext cx="10576195" cy="522662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conducted among local residents and road users.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problems reported: potholes, uneven roads, waterlogging, traffic congestion, and poor road maintenance.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respondents reported that road problems cause travel inconvenience and safety concerns.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Residents felt that quick identification and reporting of road problems would be helpful.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survey showed a need for a smart, automated road monitoring system.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81F06-958E-1949-042E-0EF57D469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777" y="-284762"/>
            <a:ext cx="1683223" cy="212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15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E53E-AD61-9147-FE5F-01742808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662272"/>
          </a:xfrm>
        </p:spPr>
        <p:txBody>
          <a:bodyPr/>
          <a:lstStyle/>
          <a:p>
            <a:r>
              <a:rPr lang="en-US" dirty="0"/>
              <a:t>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43F4C-F880-6261-DBB4-D1FA0CDBF5F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0206" y="1271752"/>
            <a:ext cx="10442785" cy="4893640"/>
          </a:xfrm>
        </p:spPr>
        <p:txBody>
          <a:bodyPr/>
          <a:lstStyle/>
          <a:p>
            <a:pPr marL="0" indent="0">
              <a:buNone/>
            </a:pP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Infiltration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Rainwater seeps through surface cracks and weakens the lower layers of the road base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Traffic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Overloaded trucks and cars put excessive stress on the pavement, creating fatigue cracks.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Drainage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Inadequate drainage systems trap standing water on the road, speeding up surface breakdown.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Substandard Materials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Cheap construction materials and poor maintenance lead to premature road failure.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1C298-199F-F343-159D-1777217B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574" y="-120180"/>
            <a:ext cx="1620161" cy="2121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11BBA6-C9ED-8125-2379-273751CC8ECB}"/>
              </a:ext>
            </a:extLst>
          </p:cNvPr>
          <p:cNvSpPr txBox="1"/>
          <p:nvPr/>
        </p:nvSpPr>
        <p:spPr>
          <a:xfrm>
            <a:off x="4099035" y="58360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Potholes </a:t>
            </a:r>
          </a:p>
        </p:txBody>
      </p:sp>
    </p:spTree>
    <p:extLst>
      <p:ext uri="{BB962C8B-B14F-4D97-AF65-F5344CB8AC3E}">
        <p14:creationId xmlns:p14="http://schemas.microsoft.com/office/powerpoint/2010/main" val="323041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77160" y="152640"/>
            <a:ext cx="8596440" cy="12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Reason for choosing Smart Road Pothole Detection: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77160" y="1130760"/>
            <a:ext cx="10255680" cy="557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6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Road potholes were the most frequently reported problem during the survey.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6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They pose a serious risk to road users and can lead to accidents.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6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Potholes cause vehicle damage and increase maintenance costs.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6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Existing reporting methods are slow and mostly manual.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6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 smart detection system can identify potholes quickly and help authorities take faster action.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680" indent="-3430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 project is practical, cost-effective, and beneficial to the community.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6" name="Picture 4"/>
          <p:cNvPicPr/>
          <p:nvPr/>
        </p:nvPicPr>
        <p:blipFill>
          <a:blip r:embed="rId2"/>
          <a:stretch/>
        </p:blipFill>
        <p:spPr>
          <a:xfrm>
            <a:off x="1247834" y="907380"/>
            <a:ext cx="3706560" cy="288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5"/>
          <p:cNvPicPr/>
          <p:nvPr/>
        </p:nvPicPr>
        <p:blipFill>
          <a:blip r:embed="rId3"/>
          <a:stretch/>
        </p:blipFill>
        <p:spPr>
          <a:xfrm>
            <a:off x="5604120" y="907380"/>
            <a:ext cx="4519080" cy="288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79;p 8"/>
          <p:cNvPicPr/>
          <p:nvPr/>
        </p:nvPicPr>
        <p:blipFill>
          <a:blip r:embed="rId4"/>
          <a:stretch/>
        </p:blipFill>
        <p:spPr>
          <a:xfrm>
            <a:off x="10972800" y="156240"/>
            <a:ext cx="1003680" cy="1215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77160" y="352097"/>
            <a:ext cx="8596440" cy="6779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Components used:</a:t>
            </a:r>
            <a:br>
              <a:rPr sz="2800" dirty="0"/>
            </a:b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77160" y="1114097"/>
            <a:ext cx="8596440" cy="539180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228600">
              <a:lnSpc>
                <a:spcPct val="100000"/>
              </a:lnSpc>
              <a:tabLst>
                <a:tab pos="0" algn="l"/>
              </a:tabLst>
            </a:pPr>
            <a:r>
              <a:rPr lang="en-IN" sz="24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Hardware</a:t>
            </a:r>
            <a:r>
              <a:rPr lang="en-IN" sz="2400" i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    </a:t>
            </a:r>
          </a:p>
          <a:p>
            <a:pPr marL="457200" indent="-228600">
              <a:lnSpc>
                <a:spcPct val="100000"/>
              </a:lnSpc>
              <a:tabLst>
                <a:tab pos="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                                                  </a:t>
            </a: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ESP 32 CAM  Module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MPU6050 Accelerometer                                 </a:t>
            </a: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GPS Module (Neo-6M)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Buzzer</a:t>
            </a: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Breadboard</a:t>
            </a: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Jumper Wires</a:t>
            </a:r>
          </a:p>
          <a:p>
            <a:pPr marL="457200" indent="-228600">
              <a:lnSpc>
                <a:spcPct val="100000"/>
              </a:lnSpc>
              <a:tabLst>
                <a:tab pos="0" algn="l"/>
              </a:tabLs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457200" indent="-228600">
              <a:lnSpc>
                <a:spcPct val="100000"/>
              </a:lnSpc>
              <a:tabLst>
                <a:tab pos="0" algn="l"/>
              </a:tabLst>
            </a:pP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Aurdino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</a:t>
            </a:r>
          </a:p>
          <a:p>
            <a:pPr marL="5715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 V8</a:t>
            </a:r>
          </a:p>
          <a:p>
            <a:pPr marL="457200" indent="-2286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Google Shape;79;p 10"/>
          <p:cNvPicPr/>
          <p:nvPr/>
        </p:nvPicPr>
        <p:blipFill>
          <a:blip r:embed="rId2"/>
          <a:stretch/>
        </p:blipFill>
        <p:spPr>
          <a:xfrm>
            <a:off x="11091099" y="198281"/>
            <a:ext cx="1003680" cy="1215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5044-A611-EA53-B160-E5AA4F15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Pothole 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9DF08-38FC-7BAC-C108-94EC3DCD6AE1}"/>
              </a:ext>
            </a:extLst>
          </p:cNvPr>
          <p:cNvSpPr txBox="1"/>
          <p:nvPr/>
        </p:nvSpPr>
        <p:spPr>
          <a:xfrm>
            <a:off x="432259" y="1505396"/>
            <a:ext cx="113268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all the components in the system.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sudden vibrations when the vehicle passes over a pothole.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the exact location of the pothole.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pothole information is stored in the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cloud(Telegram)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future reference.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can access the cloud data, view pothole locations, and take necessary action.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8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2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05E1-B4A6-AEFB-C366-B463B0C7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84727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F24E2-BE04-859B-ED7E-906C4C76C66B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DF9665-F66E-84DA-BAD7-09182159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27" y="1081548"/>
            <a:ext cx="10864946" cy="550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12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3AB0-A4D4-0C1A-F46A-22897932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A02E7-BCB1-6578-B41A-B6E865496607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EFE4D-A0CC-EB6C-108D-73EE6D0F6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5" y="1673504"/>
            <a:ext cx="9411516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42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B0AA-54A2-C0BD-68F5-6B53544B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7FE40-BE96-92F2-3723-954EACF147BB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A64640-8F8E-9FBE-F152-5CA46D30B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026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11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69D4-94EA-8B35-6BA1-70DB0B5E3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796533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results and Actions: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63D9-0283-F5E0-F2F8-7E06A10B0BB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7160" y="1219200"/>
            <a:ext cx="10837680" cy="482196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8F5E5-4165-CC76-7960-2A2576A3A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3604"/>
            <a:ext cx="12192000" cy="48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90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1540-0C68-ADB3-25BE-E838FCA8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81DC5-7DBC-DA9B-8E18-75306ADAF3A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7159" y="717755"/>
            <a:ext cx="11180543" cy="532340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3D745-06E4-625D-49F7-E385ABEC10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8" y="987625"/>
            <a:ext cx="5490095" cy="4425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E2B482-2ADA-1548-2D1A-E1F753A6B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208" y="1258529"/>
            <a:ext cx="5881494" cy="409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8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8E29-55BE-CE6D-B072-9CD4659C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414" y="425389"/>
            <a:ext cx="8596440" cy="782902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28F1F-F057-DB89-82F9-A69977D47C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9947" y="1101213"/>
            <a:ext cx="10831950" cy="548871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of potholes and road abnormalities.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Telegram notifications to provide timely information.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location of road problems using GPS.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for manual road inspection.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help improve road safety and maintenance.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cost-effective prototype.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expanded to monitor multiple types of road problems.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Limitations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depends on road conditions, lighting, camera quality, and the trained YOLO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may sometimes classify speed breakers, sudden braking, or strong vehicle vibrations as road anomalies.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prototype is developed and tested on a small scale and requires further real-road testing for reliable deployment.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alerts require an active Wi-Fi/Internet connection; alerts cannot be delivered when the network is unavailable</a:t>
            </a:r>
            <a:r>
              <a:rPr lang="en-IN" sz="2400" b="1" dirty="0"/>
              <a:t>.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586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4238-B3A8-F439-DCFB-DE241C7A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Conclusion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D268C-60F0-C628-0E76-3D2CD79CFB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11812" y="1425678"/>
            <a:ext cx="10368376" cy="4570878"/>
          </a:xfrm>
        </p:spPr>
        <p:txBody>
          <a:bodyPr/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IoT pothole detection system using ESP32, GPS, and accelerometer provides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low‑cost, real‑time solution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road monitoring. By sending alerts through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 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ensures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officers and road maintenance authorities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 immediate notifications with location data. This direct communication enables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times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better prioritization of repairs, and improved road safety. Despite challenges like Wi‑Fi dependency and GPS accuracy, the design offers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foundation for smart city infrastructure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strengthens collaboration between citizens and the public sector.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018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/>
          <p:cNvSpPr txBox="1"/>
          <p:nvPr/>
        </p:nvSpPr>
        <p:spPr>
          <a:xfrm>
            <a:off x="0" y="96653"/>
            <a:ext cx="2971800" cy="521766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US" sz="2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   Future Scope: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2626" y="-127244"/>
            <a:ext cx="10509454" cy="644877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endParaRPr lang="en-US" sz="1800" b="1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" name="Google Shape;79;p 15"/>
          <p:cNvPicPr/>
          <p:nvPr/>
        </p:nvPicPr>
        <p:blipFill>
          <a:blip r:embed="rId2"/>
          <a:stretch/>
        </p:blipFill>
        <p:spPr>
          <a:xfrm>
            <a:off x="11062080" y="156240"/>
            <a:ext cx="1003680" cy="121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21B80-4265-B7F7-D618-293A2F81BE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33499" y="1240970"/>
            <a:ext cx="10972440" cy="5194553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Damage Classification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Artificial Intelligence to automatically classify potholes and estimate their severity.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Integration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the system with smart city infrastructure for centralized road monitoring and maintenance.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 that provides real-time pothole alerts and suggests safer routes.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Road Maintenance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 and Camera Integration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 IoT sensors with drones and computer vision to improve road inspection accuracy and cover larger areas efficiently.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472C-D78C-EF12-E09B-D8AE226C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735" y="98385"/>
            <a:ext cx="8596440" cy="690743"/>
          </a:xfrm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FB650-D12B-2D5A-351A-4808018B8D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85787" y="789127"/>
            <a:ext cx="10837680" cy="5970487"/>
          </a:xfrm>
        </p:spPr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Singh, R.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Wijethunga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Sadhu,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“Expert Evaluation System for Pothole Defect Detection,”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—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ScienceDirect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Chellaswamy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Famitha, T. Anusuya, and M. A.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Coumar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“IoT Based Humps and Pothole Detection on Roads and Information Sharing,”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ICCPEIC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2018, pp. 291–297. —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C. Wang, C. L. Hsieh, M. H. Lee, and C. H. Sun,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“Monitoring Road Surface Anomalies Using an IoT-Based Automatic Detection System,”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Intelligent Transportation Systems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—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Bello-Salau, A. J.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Onumanyi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F. Adebiyi,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Critical Appraisal of Various Implementation Approaches for Real-Time Pothole Anomaly Detection,”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18, 2023. —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MDPI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Bansal, K. Mittal, G. Ahuja, and A. Singh,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DeepBus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Machine Learning Based Real-Time Pothole Detection System for Smart Transportation Using IoT,”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Technology Letters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3, no. 6, 2020. —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Wiley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00329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50;p11"/>
          <p:cNvSpPr/>
          <p:nvPr/>
        </p:nvSpPr>
        <p:spPr>
          <a:xfrm>
            <a:off x="1728000" y="1758960"/>
            <a:ext cx="8438760" cy="339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THANK YOU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79;p 17"/>
          <p:cNvPicPr/>
          <p:nvPr/>
        </p:nvPicPr>
        <p:blipFill>
          <a:blip r:embed="rId2"/>
          <a:stretch/>
        </p:blipFill>
        <p:spPr>
          <a:xfrm>
            <a:off x="11112120" y="0"/>
            <a:ext cx="1003680" cy="1215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FA70-8FF1-5D14-0FD3-8014AD0F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1E822-6D93-6A28-6D1D-BF24CF7297E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8270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EEEEEE"/>
      </a:dk2>
      <a:lt2>
        <a:srgbClr val="595959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</TotalTime>
  <Words>1379</Words>
  <Application>Microsoft Office PowerPoint</Application>
  <PresentationFormat>Widescreen</PresentationFormat>
  <Paragraphs>198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Aptos Display</vt:lpstr>
      <vt:lpstr>Arial</vt:lpstr>
      <vt:lpstr>Bahnschrift Light</vt:lpstr>
      <vt:lpstr>Nunito</vt:lpstr>
      <vt:lpstr>Symbol</vt:lpstr>
      <vt:lpstr>Times New Roman</vt:lpstr>
      <vt:lpstr>Wingdings</vt:lpstr>
      <vt:lpstr>Simple Light</vt:lpstr>
      <vt:lpstr>MVGR College Of Engineering(Autonomous) Department Of Electronics And Communications Engineering Community Project On IoT Based Road Pothole And Anomaly  Detection System</vt:lpstr>
      <vt:lpstr>           TEAM INTRODUCTION</vt:lpstr>
      <vt:lpstr>                       Abstract </vt:lpstr>
      <vt:lpstr>               INTRODUCTION</vt:lpstr>
      <vt:lpstr>                                TARGETED AREA </vt:lpstr>
      <vt:lpstr>                    Objectives </vt:lpstr>
      <vt:lpstr>                    survey location</vt:lpstr>
      <vt:lpstr>PowerPoint Presentation</vt:lpstr>
      <vt:lpstr>             Survey Questions  </vt:lpstr>
      <vt:lpstr>              Data &amp; observations</vt:lpstr>
      <vt:lpstr>                   </vt:lpstr>
      <vt:lpstr>Reason for choosing Smart Road Pothole Detection:</vt:lpstr>
      <vt:lpstr>Components used: </vt:lpstr>
      <vt:lpstr>Working of Pothole System</vt:lpstr>
      <vt:lpstr>PowerPoint Presentation</vt:lpstr>
      <vt:lpstr>System Architecture:</vt:lpstr>
      <vt:lpstr>Circuit Diagram:</vt:lpstr>
      <vt:lpstr>PowerPoint Presentation</vt:lpstr>
      <vt:lpstr>Prototype results and Actions:</vt:lpstr>
      <vt:lpstr>PowerPoint Presentation</vt:lpstr>
      <vt:lpstr>Advantages</vt:lpstr>
      <vt:lpstr>                     Conclusion  </vt:lpstr>
      <vt:lpstr>PowerPoint Presentation</vt:lpstr>
      <vt:lpstr>                      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MVGR College Of Engineering(Autonomous) Department Of Electronics And Communications Engineering Community Project On IoT Based Road Pothole And Anomaly  Detection System</dc:title>
  <dc:subject/>
  <dc:creator>jyothiprakashdev Maddi</dc:creator>
  <dc:description/>
  <cp:lastModifiedBy>ananth kumar</cp:lastModifiedBy>
  <cp:revision>28</cp:revision>
  <dcterms:created xsi:type="dcterms:W3CDTF">2024-10-02T06:51:27Z</dcterms:created>
  <dcterms:modified xsi:type="dcterms:W3CDTF">2026-09-19T06:08:44Z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Widescreen</vt:lpwstr>
  </property>
  <property fmtid="{D5CDD505-2E9C-101B-9397-08002B2CF9AE}" pid="4" name="Slides">
    <vt:r8>17</vt:r8>
  </property>
</Properties>
</file>